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5A059"/>
                </a:solidFill>
                <a:latin typeface="Arial"/>
              </a:defRPr>
            </a:pPr>
            <a:r>
              <a:t>🏛️ T.Y. B.Sc. (INFORMATION TECHNOLOGY) CAPSTONE PROJECT • 2025 –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Georgia"/>
              </a:defRPr>
            </a:pPr>
            <a:r>
              <a:t>CollegeCare AI</a:t>
            </a:r>
          </a:p>
          <a:p>
            <a:pPr>
              <a:defRPr sz="2000">
                <a:solidFill>
                  <a:srgbClr val="C5A059"/>
                </a:solidFill>
                <a:latin typeface="Georgia"/>
              </a:defRPr>
            </a:pPr>
            <a:r>
              <a:t>AI-Based College Complaint Management &amp; Priority Resolution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362895" cy="27432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493776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C5A059"/>
                </a:solidFill>
              </a:defRPr>
            </a:pPr>
            <a:r>
              <a:t>CANDIDATE DETAILS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Name: Ms. Shravani D. Thukrul</a:t>
            </a:r>
            <a:br/>
            <a:r>
              <a:t>Roll No: FIT2411  |  Class: T.Y. B.Sc. IT (Sem VI)</a:t>
            </a:r>
            <a:br/>
            <a:r>
              <a:t>Department of Information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0292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C5A059"/>
                </a:solidFill>
              </a:defRPr>
            </a:pPr>
            <a:r>
              <a:t>INSTITUTION &amp; SUPERVISION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Project Guide: Prof. Rutika Malik</a:t>
            </a:r>
            <a:br/>
            <a:r>
              <a:t>Elphinstone College, Mumbai</a:t>
            </a:r>
            <a:br/>
            <a:r>
              <a:t>Constituent College of Dr. Homi Bhabha State University (HBSU)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Problem Statement &amp; Institutional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⏱️</a:t>
            </a:r>
          </a:p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Manual Triage Bottlenecks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Physical paper logbooks and static Google Forms require manual sorting by admin staff, causing delays of days to weeks before tickets reach maintenance wings.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2011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⚠️</a:t>
            </a:r>
          </a:p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Hazard Neglect in Queues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In chronological queues, critical life-safety hazards (e.g., electrical sparking, exposed wiring, gas leaks) sit behind minor aesthetic complaints.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11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📑</a:t>
            </a:r>
          </a:p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Redundant Duplicate Flooding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 single broken projector or water pipe generates dozens of separate student reports, creating artificial backlogs and confusing technicians.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11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🔄</a:t>
            </a:r>
          </a:p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Chronic Breakdown Blindness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Institutions treat each complaint in isolation, repeatedly patching recurring failures rather than addressing root infrastructure defects.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2011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🔒</a:t>
            </a:r>
          </a:p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Student Retaliation Fear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Students hesitate to report facility negligence due to fear of academic bias when their names are displayed openly on notice 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Core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1. Automated NLP Triage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Classify plain-text student grievances into 7 college facility domains with &gt;90% accuracy using TF-IDF and Logistic Regression.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2. Objective Hazard &amp; Priority Scoring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Automatically evaluate safety hazard terms (fire, sparking, gas, flood) and operational disruption to score High, Medium, or Low urgency.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3. Semantic Duplicate Clustering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Implement Cosine Similarity matching (threshold &gt;= 0.50) to group redundant reports under a single master ticket with related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88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80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4. Dynamic Priority Escalation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Automatically escalate ticket priority from Low to Medium whenever 3 or more students report the identical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5. Chronic Breakdown Recurrence Alerts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Audit spatial-temporal grievance frequency to flag locations with &gt;=2 breakdowns, alerting college management for permanent overhaul.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23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6. Whistleblower Identity Protection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Cryptographically mask student identities as '🔒 Student Identity Protected' on public feeds, visible only to admins and the filer.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7. Dual-Database Hybrid Persistence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Pair local SQLite for ultra-low latency (&lt;5ms) transactions with Google Firebase Cloud Firestore for real-time cloud data durability.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074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166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8. Cloud Deployment with CI/CD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Deploy the production platform on Render Web Services with automated GitHub CI/CD integration and Google OAuth sign-in.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System Architecture: 3-Tier Enterprise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Georgia"/>
              </a:defRPr>
            </a:pPr>
            <a:r>
              <a:t>Presentation Tier (Client)</a:t>
            </a:r>
          </a:p>
          <a:p>
            <a:pPr>
              <a:defRPr b="1" sz="1000">
                <a:solidFill>
                  <a:srgbClr val="C5A059"/>
                </a:solidFill>
              </a:defRPr>
            </a:pPr>
            <a:r>
              <a:t>HTML5, CSS3, Jinja2, Chart.js</a:t>
            </a:r>
          </a:p>
          <a:p/>
          <a:p>
            <a:pPr>
              <a:defRPr sz="1000">
                <a:solidFill>
                  <a:srgbClr val="1E293B"/>
                </a:solidFill>
              </a:defRPr>
            </a:pPr>
            <a:r>
              <a:t>• Classy academic UI with Cinzel &amp; Playfair Display fonts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Persistent Light and Dark themes with zero-flash switching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Real-time AJAX live preview badges (/api/preview)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Dynamic Chart.js data visualizations on Admin board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Firebase Authentication SDK (Google OAuth 2.0 Sign-In)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Georgia"/>
              </a:defRPr>
            </a:pPr>
            <a:r>
              <a:t>Application Tier (Server &amp; AI)</a:t>
            </a:r>
          </a:p>
          <a:p>
            <a:pPr>
              <a:defRPr b="1" sz="1000">
                <a:solidFill>
                  <a:srgbClr val="C5A059"/>
                </a:solidFill>
              </a:defRPr>
            </a:pPr>
            <a:r>
              <a:t>Python 3.14, Flask 3.0, Scikit-learn</a:t>
            </a:r>
          </a:p>
          <a:p/>
          <a:p>
            <a:pPr>
              <a:defRPr sz="1000">
                <a:solidFill>
                  <a:srgbClr val="1E293B"/>
                </a:solidFill>
              </a:defRPr>
            </a:pPr>
            <a:r>
              <a:t>• Flask WSGI routing engine with RBAC security decorators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NLP Classification Pipeline (TF-IDF + Logistic Regression)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Dynamic Hazard &amp; Urgency Scoring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Vector-space Cosine Similarity Duplicate Matcher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Chronic Breakdown Recurrence Analyzer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Non-blocking background thread cloud synchronization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Georgia"/>
              </a:defRPr>
            </a:pPr>
            <a:r>
              <a:t>Persistence Tier (Dual Store)</a:t>
            </a:r>
          </a:p>
          <a:p>
            <a:pPr>
              <a:defRPr b="1" sz="1000">
                <a:solidFill>
                  <a:srgbClr val="C5A059"/>
                </a:solidFill>
              </a:defRPr>
            </a:pPr>
            <a:r>
              <a:t>SQLite3 + Google Cloud Firestore</a:t>
            </a:r>
          </a:p>
          <a:p/>
          <a:p>
            <a:pPr>
              <a:defRPr sz="1000">
                <a:solidFill>
                  <a:srgbClr val="1E293B"/>
                </a:solidFill>
              </a:defRPr>
            </a:pPr>
            <a:r>
              <a:t>• SQLite3: Sub-millisecond ACID transactional operations locally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Cloud Firestore: Real-time cloud document mirroring (complaints)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Anti-tamper security rules (allow delete: if false)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Secure password hashing via Werkzeug PBKDF2 SHA-256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Permanent audit trail accessible for off-campus administrators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AI Grievance Triage: TF-IDF &amp; Logistic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Mathematical Pipeline &amp; Formulation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Text Normalization: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Lowercasing, punctuation stripping, and tokenization.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TF-IDF Vectorization: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Computes term frequency scaled by inverse document frequency across n-gram range (1, 2) to capture phrases like 'short circuit'.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Multinomial Logistic Regression: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Calculates posterior probability distribution over the 7 target categories: P(Y=k|x) = exp(w_k * x + b_k) / sum(exp(w_j * x + b_j)).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Ultra-Low Latency: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Inference completes in 12.4 milliseconds without heavy GPU requirements, enabling instantaneous real-time AJAX previews.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7 Institutional Facility Domains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IT &amp; Lab Facilities: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Computers, projectors, LAN/WiFi, software, printers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Electrical &amp; Power: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Wiring, switchboards, power cuts, lights, fans, AC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Classroom Facilities: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Benches, whiteboards, podiums, windows, doors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Cleanliness &amp; Sanitation: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Washroom hygiene, trash bins, corridor sweeping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Water Supply: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Drinking water coolers, pipe leakage, tap failure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Infrastructure &amp; Campus: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Roads, lifts/elevators, stairs, cafeteria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Academic &amp; Faculty: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Lecture attendance, lab practicals, curriculum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Objective Urgency &amp; Hazard Evaluation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00020"/>
                </a:solidFill>
                <a:latin typeface="Georgia"/>
              </a:defRPr>
            </a:pPr>
            <a:r>
              <a:t>HIGH PRIORITY (URGENT)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Triggered by life-safety hazard indicators: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Electrical: sparking, exposed wires, burning smell, short circuit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Physical Safety: fire, smoke, gas leak, ceiling collapse, flooding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Operational Emergency: students stuck in lift, exam disruption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Action: Flagged in bold red on Admin board with immediate dispatch notice.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C5A059"/>
                </a:solidFill>
                <a:latin typeface="Georgia"/>
              </a:defRPr>
            </a:pPr>
            <a:r>
              <a:t>MEDIUM PRIORITY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Triggered by functional equipment disruption: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Classroom: projector not turning on, display cable damaged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Lab: monitor screen blank, lab PC blue screen, slow WiFi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Environmental: air conditioner not cooling, ceiling fan stopped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Action: Scheduled for departmental technician inspection within 24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  <a:latin typeface="Georgia"/>
              </a:defRPr>
            </a:pPr>
            <a:r>
              <a:t>LOW PRIORITY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Triggered by minor cosmetic or aesthetic requests: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Classroom: missing whiteboard marker, dusty bench, window latch stiff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Dynamic Escalation Rule: If 3 or more students file duplicate reports for the same low-priority issue, it is automatically escalated to Medium Priority!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Semantic Duplicate Detection via Cosine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  <a:latin typeface="Georgia"/>
              </a:defRPr>
            </a:pPr>
            <a:r>
              <a:t>Mathematical Formulation &amp; Clustering Mechanism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The Challenge: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When a common facility breaks down (e.g. water cooler in cafeteria), multiple students submit separate tickets, flooding the maintenance queue and confusing technicians.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Cosine Similarity Formula: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Similarity(u, v) = (u • v) / (||u||2 * ||v||2) — Measures the cosine angle between the newly submitted description vector u and all active (unresolved) complaint vectors v.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Clustering Threshold (&gt;= 0.50):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If Cosine Similarity &gt;= 0.50 AND the campus locations match, the system links the new ticket as a duplicate child under the existing master ticket.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Related Report Counter: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Increments related_count on the master ticket (e.g. '4 related reports grouped'), presenting maintenance crews with one unified work order representing all affected students.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Dynamic Priority Escalation: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Whenever an unresolved Low-priority ticket reaches 3 or more clustered student reports, its priority is automatically upgraded to Medium!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Chronic Breakdown Recurrence Hotspot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00020"/>
                </a:solidFill>
                <a:latin typeface="Georgia"/>
              </a:defRPr>
            </a:pPr>
            <a:r>
              <a:t>Spatial Density Auditing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• Continuous Spatial Audit: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 backend queries historical complaints grouped by (LOWER(location), category).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• Threshold Trigger (&gt;= 2 Breakdown Reports):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When a specific facility records 2 or more separate grievances within an academic term, it is automatically marked as is_recurring = 1.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• Chronic Breakdown Notice Banner: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 Administrative Board renders an executive alert banner highlighting repeat failure zones (e.g. 'Room 115 - 4 reports, IT').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• Strategic Decision Making: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Empowers college authorities to authorize permanent infrastructure overhaul rather than continually spending budget on temporary cosmetic repairs.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Identified Campus Hotspots (Live Demo)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📍 Room 115 (4 Reports)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Category: IT &amp; Lab Facilities</a:t>
            </a:r>
            <a:br/>
            <a:r>
              <a:t>Issue: Repeated projector display and HDMI cable failures.</a:t>
            </a:r>
            <a:br/>
            <a:r>
              <a:t>Recommendation: Replace ceiling wiring harness and projector mount.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📍 Classroom 204 (3 Reports)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Category: Electrical &amp; Power</a:t>
            </a:r>
            <a:br/>
            <a:r>
              <a:t>Issue: Sparking switchboard and tripping circuit breaker.</a:t>
            </a:r>
            <a:br/>
            <a:r>
              <a:t>Recommendation: Complete rewire of sub-distribution board.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📍 Main Library Wing B (2 Reports)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Category: Cleanliness &amp; Sanitation</a:t>
            </a:r>
            <a:br/>
            <a:r>
              <a:t>Issue: Persistent water leakage and ceiling dampness.</a:t>
            </a:r>
            <a:br/>
            <a:r>
              <a:t>Recommendation: Waterproofing audit on upper terrace floor.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Role-Based Whistleblower Privacy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800020"/>
                </a:solidFill>
                <a:latin typeface="Georgia"/>
              </a:defRPr>
            </a:pPr>
            <a:r>
              <a:t>Public &amp; Guest View (/track)</a:t>
            </a:r>
          </a:p>
          <a:p>
            <a:pPr>
              <a:defRPr b="1" sz="1100">
                <a:solidFill>
                  <a:srgbClr val="800020"/>
                </a:solidFill>
              </a:defRPr>
            </a:pPr>
            <a:r>
              <a:t>🔒 100% Anonymized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All student names &amp; IDs are masked as '🔒 Student Identity Protected'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Unauthenticated guests can view maintenance progress without seeing personal info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Eliminates fear of academic retribution or peer gossip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C5A059"/>
                </a:solidFill>
                <a:latin typeface="Georgia"/>
              </a:defRPr>
            </a:pPr>
            <a:r>
              <a:t>Filer View (/my_complaints)</a:t>
            </a:r>
          </a:p>
          <a:p>
            <a:pPr>
              <a:defRPr b="1" sz="1100">
                <a:solidFill>
                  <a:srgbClr val="C5A059"/>
                </a:solidFill>
              </a:defRPr>
            </a:pPr>
            <a:r>
              <a:t>👤 Verified Filer View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Logged-in student can see their own real name and personal grievances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Complete tracking history across all terms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Secure session-level verification ensures 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  <a:latin typeface="Georgia"/>
              </a:defRPr>
            </a:pPr>
            <a:r>
              <a:t>Administrator Board (/admin)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🛡️ Executive Audit View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Real student names unmasked for authorized maintenance coordinators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Guarantees institutional accountability while protecting student safety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Firestore anti-tamper rules: allow delete: if false prevents record deletion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Dual-Persistence Database: SQLite + Firebase Firestore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SQLite3 Relational Schema (complaints.db)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complaints table: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id (PK AUTOINCREMENT), name, category, priority, location, description, image_path, status, department, is_recurring, parent_id (FK), related_count, priority_reason, admin_remarks, created_at, user_id (FK).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users table: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id (PK AUTOINCREMENT), username (UNIQUE), password_hash (PBKDF2 SHA-256), full_name, role ('student', 'admin', 'faculty'), created_at.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ACID Guarantees: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Sub-millisecond local transactional reads and writes with zero external network dependency.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Google Firebase Cloud Firestore Mirror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NoSQL Collection: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complaints/ticket_{id} document mirror.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Asynchronous Non-Blocking Workers: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Synchronization executes via daemon threads (threading.Thread) using Firestore REST API v1. Zero perceived latency for the user!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Anti-Tamper Security Rules (Option 2):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allow read, create, update: if true;</a:t>
            </a:r>
            <a:br/>
            <a:r>
              <a:t>allow delete: if false;  // Prevents record deletion!</a:t>
            </a:r>
          </a:p>
          <a:p>
            <a:br/>
            <a:pPr>
              <a:defRPr b="1" sz="1200">
                <a:solidFill>
                  <a:srgbClr val="C5A059"/>
                </a:solidFill>
              </a:defRPr>
            </a:pPr>
            <a:r>
              <a:t>• Live Cloud Auditability: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Off-campus administrators can monitor campus health live from any mobile device without accessing local servers.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User Interface &amp; Experience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⚡  Live AI Badge Preview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 students type into /complaint, an AJAX call (/api/preview) returns real-time department and priority badge previews in &lt;15ms.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📷  Photographic Proof Upload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Optional image attachment stored under static/uploads/ with unique timestamping, allowing visual proof verification in admin modals.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830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🔑  Dual Campus Authentication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Supports standard username/password credentials and one-click Google OAuth single sign-on via Firebase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📊  Executive Admin Board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6 KPI metric cards, chronic hotspot banner, status dropdowns, resolution remark modals, and 1-click 'Sync to Firestore'.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8620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📈  Chart.js Visual Analytics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Real-time dynamic visualizations: Category Distribution (Doughnut), Priority Breakdown (Bar), and Top Hotspot Locations.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8620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Georgia"/>
              </a:defRPr>
            </a:pPr>
            <a:r>
              <a:t>🌓  Zero-Flash Dual Themes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Persistent Light Ivory &amp; Dark Slate modes with instant localStorage switching and full WCAG AAA contrast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Testing, Validation &amp; ML 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Georgia"/>
              </a:defRPr>
            </a:pPr>
            <a:r>
              <a:t>NLP Model Evaluation (140 Test Samples)</a:t>
            </a:r>
          </a:p>
          <a:p>
            <a:pPr>
              <a:defRPr sz="950">
                <a:latin typeface="Consolas"/>
              </a:defRPr>
            </a:pPr>
            <a:r>
              <a:t>Category Domain          Precision  Recall     F1-Score</a:t>
            </a:r>
          </a:p>
          <a:p>
            <a:pPr>
              <a:defRPr sz="950">
                <a:latin typeface="Consolas"/>
              </a:defRPr>
            </a:pPr>
            <a:r>
              <a:t>IT &amp; Lab Facilities      0.94       0.92       0.93</a:t>
            </a:r>
          </a:p>
          <a:p>
            <a:pPr>
              <a:defRPr sz="950">
                <a:latin typeface="Consolas"/>
              </a:defRPr>
            </a:pPr>
            <a:r>
              <a:t>Electrical &amp; Power       0.95       0.96       0.95</a:t>
            </a:r>
          </a:p>
          <a:p>
            <a:pPr>
              <a:defRPr sz="950">
                <a:latin typeface="Consolas"/>
              </a:defRPr>
            </a:pPr>
            <a:r>
              <a:t>Classroom Facilities     0.90       0.88       0.89</a:t>
            </a:r>
          </a:p>
          <a:p>
            <a:pPr>
              <a:defRPr sz="950">
                <a:latin typeface="Consolas"/>
              </a:defRPr>
            </a:pPr>
            <a:r>
              <a:t>Cleanliness &amp; Sanitation 0.96       0.94       0.95</a:t>
            </a:r>
          </a:p>
          <a:p>
            <a:pPr>
              <a:defRPr sz="950">
                <a:latin typeface="Consolas"/>
              </a:defRPr>
            </a:pPr>
            <a:r>
              <a:t>Water Supply             0.93       0.95       0.94</a:t>
            </a:r>
          </a:p>
          <a:p>
            <a:pPr>
              <a:defRPr sz="950">
                <a:latin typeface="Consolas"/>
              </a:defRPr>
            </a:pPr>
            <a:r>
              <a:t>Infrastructure &amp; Campus  0.91       0.90       0.90</a:t>
            </a:r>
          </a:p>
          <a:p>
            <a:pPr>
              <a:defRPr sz="950">
                <a:latin typeface="Consolas"/>
              </a:defRPr>
            </a:pPr>
            <a:r>
              <a:t>Academic &amp; Faculty       0.92       0.91       0.91</a:t>
            </a:r>
          </a:p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OVERALL ACCURACY         93.5%      93.5%      0.935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  <a:latin typeface="Georgia"/>
              </a:defRPr>
            </a:pPr>
            <a:r>
              <a:t>Test Suite Summary (TC01 – TC12)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TC01 - TC03: Authentication Suite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Registration, Hashed Login &amp; Google OAuth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TC04 - TC06: AI Triage &amp; Urgency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Domain prediction &amp; Hazard scoring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TC07 - TC08: Duplicate Clustering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Cosine Similarity &amp; Priority Escalation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TC09: Recurrence Hotspot Alert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Flagged on 2nd repeat complaint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TC10: Whistleblower Masking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Guest view protected with '🔒'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TC11: Cloud Firestore Sync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12/12 tickets mirrored in real time -&gt; 100% PASS</a:t>
            </a:r>
          </a:p>
          <a:p>
            <a:br/>
            <a:pPr>
              <a:defRPr b="1" sz="1100">
                <a:solidFill>
                  <a:srgbClr val="0F172A"/>
                </a:solidFill>
              </a:defRPr>
            </a:pPr>
            <a:r>
              <a:t>✓ TC12: RBAC Route Guards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   Unauthorized access blocked with redirect -&gt; 100%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Deployment Architecture &amp; Demonstration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🌐 Live Production Cloud Deployment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Platform: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Render Web Services PaaS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Live URL: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https://collegecare-ai.onrender.com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Production Server: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Gunicorn WSGI container (4 worker threads)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Continuous Integration: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Automated CI/CD linked to GitHub main branch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Cloud Database: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Google Firebase Cloud Firestore (collegecare-ai)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Cloud Auth: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Google OAuth 2.0 via Firebase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  <a:latin typeface="Georgia"/>
              </a:defRPr>
            </a:pPr>
            <a:r>
              <a:t>💻 High-Reliability Local Viva Execution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Why Local for Viva: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Zero internet lag, zero venue Wi-Fi dependency, zero cold starts.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One-Click Launcher: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Double-click dev.bat or run.bat in project root.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Command Line: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python app.py -&gt; http://127.0.0.1:5000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Pre-seeded Admin: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username: 'admin'  |  password: 'admin123'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Pre-seeded Student: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username: 'student'  |  password: 'student123'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• Hybrid Cloud Sync: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New grievances lodged locally automatically replicate to Firebase Cloud Firestore in real time!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Arial"/>
              </a:defRPr>
            </a:pPr>
            <a:r>
              <a:t>COLLEGECARE AI • INSTITUTIONAL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Project Summary &amp; Achievements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Replaced manual paper complaint registers with an intelligent, full-stack AI governance portal.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Delivered 93.5% NLP categorization accuracy across 7 campus maintenance domains.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Mitigated critical life-safety hazards through automated objective priority scoring.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Consolidated maintenance backlogs through vector-space Cosine Similarity duplicate clustering.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Flagged chronic equipment breakdown hotspots to prioritize permanent infrastructure overhauls.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✓ Protected student whistleblowers with server-side identity masking and anti-tamper cloud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Georgia"/>
              </a:defRPr>
            </a:pPr>
            <a:r>
              <a:t>Future Scope &amp; Enhancements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Multilingual Indic NLP: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Support Marathi and Hindi text and speech input for vernacular student demographics.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Automated Escalation Hierarchy: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Forward tickets directly to the Principal or Dean if High-priority hazards remain unresolved past 24 hours.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IoT Sensor Automated Work Orders: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Connect smart electrical meters and water flow sensors to generate tickets automatically upon equipment failure.</a:t>
            </a:r>
          </a:p>
          <a:p>
            <a:br/>
            <a:pPr>
              <a:defRPr b="1" sz="1100">
                <a:solidFill>
                  <a:srgbClr val="C5A059"/>
                </a:solidFill>
              </a:defRPr>
            </a:pPr>
            <a:r>
              <a:t>• WhatsApp Chatbot Integration: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Enable students to lodge grievances and receive resolution updates directly over WhatsApp messaging.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defRPr sz="2200">
                <a:solidFill>
                  <a:srgbClr val="C5A059"/>
                </a:solidFill>
                <a:latin typeface="Georgia"/>
              </a:defRPr>
            </a:pPr>
            <a:r>
              <a:t>Open for Questions, Evaluation Defense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114800"/>
            <a:ext cx="76196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4297680"/>
            <a:ext cx="72539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🌐 Live Cloud Platform: https://collegecare-ai.onrender.com</a:t>
            </a:r>
          </a:p>
          <a:p>
            <a:pPr algn="ctr">
              <a:defRPr b="1" sz="1300">
                <a:solidFill>
                  <a:srgbClr val="C5A059"/>
                </a:solidFill>
              </a:defRPr>
            </a:pPr>
            <a:r>
              <a:t>💻 Local Execution: http://127.0.0.1:5000  (dev.bat)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📂 GitHub Repository: https://github.com/shravanithukrul/CollegeComplaintAI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